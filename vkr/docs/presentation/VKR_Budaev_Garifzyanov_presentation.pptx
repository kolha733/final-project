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остановка задачи" id="{3829cb32-f967-86a4-569e-866b4e0d3cbc}">
          <p14:sldIdLst>
            <p14:sldId id="256"/>
            <p14:sldId id="257"/>
            <p14:sldId id="258"/>
            <p14:sldId id="259"/>
          </p14:sldIdLst>
        </p14:section>
        <p14:section name="Модель и метод" id="{7c1675dc-f595-351f-1df1-d27efc2930a2}">
          <p14:sldIdLst>
            <p14:sldId id="260"/>
            <p14:sldId id="261"/>
            <p14:sldId id="262"/>
            <p14:sldId id="263"/>
          </p14:sldIdLst>
        </p14:section>
        <p14:section name="Фреймворк и эксперименты" id="{6e44c634-818f-12e6-1d4a-2b2a76e5fa37}">
          <p14:sldIdLst>
            <p14:sldId id="264"/>
            <p14:sldId id="265"/>
            <p14:sldId id="266"/>
            <p14:sldId id="267"/>
            <p14:sldId id="268"/>
          </p14:sldIdLst>
        </p14:section>
        <p14:section name="Итоги" id="{86a7a1ee-ef64-02e8-9a27-b9dbd312c611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Средний F1 на наборе Э2 (протокол reset)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F1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PageHinkley-up</c:v>
                  </c:pt>
                  <c:pt idx="1">
                    <c:v>FHDDM</c:v>
                  </c:pt>
                  <c:pt idx="2">
                    <c:v>HDDM_W</c:v>
                  </c:pt>
                  <c:pt idx="3">
                    <c:v>PageHinkley</c:v>
                  </c:pt>
                  <c:pt idx="4">
                    <c:v>HDDM_A</c:v>
                  </c:pt>
                  <c:pt idx="5">
                    <c:v>ADWIN</c:v>
                  </c:pt>
                  <c:pt idx="6">
                    <c:v>DDM</c:v>
                  </c:pt>
                  <c:pt idx="7">
                    <c:v>KSWIN</c:v>
                  </c:pt>
                  <c:pt idx="8">
                    <c:v>EDDM</c:v>
                  </c:pt>
                  <c:pt idx="9">
                    <c:v>Periodic(2000)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0.364</c:v>
                </c:pt>
                <c:pt idx="1">
                  <c:v>0.315</c:v>
                </c:pt>
                <c:pt idx="2">
                  <c:v>0.278</c:v>
                </c:pt>
                <c:pt idx="3">
                  <c:v>0.262</c:v>
                </c:pt>
                <c:pt idx="4">
                  <c:v>0.236</c:v>
                </c:pt>
                <c:pt idx="5">
                  <c:v>0.218</c:v>
                </c:pt>
                <c:pt idx="6">
                  <c:v>0.191</c:v>
                </c:pt>
                <c:pt idx="7">
                  <c:v>0.11</c:v>
                </c:pt>
                <c:pt idx="8">
                  <c:v>0.099</c:v>
                </c:pt>
                <c:pt idx="9">
                  <c:v>0.384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Средний прирост accuracy относительно модели без детектора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Δaccuracy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PageHinkley-up</c:v>
                  </c:pt>
                  <c:pt idx="1">
                    <c:v>FHDDM</c:v>
                  </c:pt>
                  <c:pt idx="2">
                    <c:v>HDDM_W</c:v>
                  </c:pt>
                  <c:pt idx="3">
                    <c:v>PageHinkley</c:v>
                  </c:pt>
                  <c:pt idx="4">
                    <c:v>HDDM_A</c:v>
                  </c:pt>
                  <c:pt idx="5">
                    <c:v>ADWIN</c:v>
                  </c:pt>
                  <c:pt idx="6">
                    <c:v>DDM</c:v>
                  </c:pt>
                  <c:pt idx="7">
                    <c:v>KSWIN</c:v>
                  </c:pt>
                  <c:pt idx="8">
                    <c:v>EDDM</c:v>
                  </c:pt>
                  <c:pt idx="9">
                    <c:v>Periodic(2000)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0.011</c:v>
                </c:pt>
                <c:pt idx="1">
                  <c:v>0.0099</c:v>
                </c:pt>
                <c:pt idx="2">
                  <c:v>0.0052</c:v>
                </c:pt>
                <c:pt idx="3">
                  <c:v>-0.0086</c:v>
                </c:pt>
                <c:pt idx="4">
                  <c:v>0.0118</c:v>
                </c:pt>
                <c:pt idx="5">
                  <c:v>0.006</c:v>
                </c:pt>
                <c:pt idx="6">
                  <c:v>0.0121</c:v>
                </c:pt>
                <c:pt idx="7">
                  <c:v>0.0039</c:v>
                </c:pt>
                <c:pt idx="8">
                  <c:v>0.0067</c:v>
                </c:pt>
                <c:pt idx="9">
                  <c:v>-0.0139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"/>
          <c:min val="-0.02"/>
        </c:scaling>
        <c:delete val="0"/>
        <c:axPos val="b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Превышение recall над случайным уровнем (по частоте ложных тревог)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реальный дрейф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PageHinkley-up</c:v>
                  </c:pt>
                  <c:pt idx="1">
                    <c:v>FHDDM</c:v>
                  </c:pt>
                  <c:pt idx="2">
                    <c:v>HDDM_W</c:v>
                  </c:pt>
                  <c:pt idx="3">
                    <c:v>PageHinkley</c:v>
                  </c:pt>
                  <c:pt idx="4">
                    <c:v>HDDM_A</c:v>
                  </c:pt>
                  <c:pt idx="5">
                    <c:v>ADWIN</c:v>
                  </c:pt>
                  <c:pt idx="6">
                    <c:v>DDM</c:v>
                  </c:pt>
                  <c:pt idx="7">
                    <c:v>KSWIN</c:v>
                  </c:pt>
                  <c:pt idx="8">
                    <c:v>EDDM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0.596</c:v>
                </c:pt>
                <c:pt idx="1">
                  <c:v>0.546</c:v>
                </c:pt>
                <c:pt idx="2">
                  <c:v>0.462</c:v>
                </c:pt>
                <c:pt idx="3">
                  <c:v>0.19</c:v>
                </c:pt>
                <c:pt idx="4">
                  <c:v>0.489</c:v>
                </c:pt>
                <c:pt idx="5">
                  <c:v>0.368</c:v>
                </c:pt>
                <c:pt idx="6">
                  <c:v>0.394</c:v>
                </c:pt>
                <c:pt idx="7">
                  <c:v>0.134</c:v>
                </c:pt>
                <c:pt idx="8">
                  <c:v>0.005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виртуальный дрейф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PageHinkley-up</c:v>
                  </c:pt>
                  <c:pt idx="1">
                    <c:v>FHDDM</c:v>
                  </c:pt>
                  <c:pt idx="2">
                    <c:v>HDDM_W</c:v>
                  </c:pt>
                  <c:pt idx="3">
                    <c:v>PageHinkley</c:v>
                  </c:pt>
                  <c:pt idx="4">
                    <c:v>HDDM_A</c:v>
                  </c:pt>
                  <c:pt idx="5">
                    <c:v>ADWIN</c:v>
                  </c:pt>
                  <c:pt idx="6">
                    <c:v>DDM</c:v>
                  </c:pt>
                  <c:pt idx="7">
                    <c:v>KSWIN</c:v>
                  </c:pt>
                  <c:pt idx="8">
                    <c:v>EDDM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0.015</c:v>
                </c:pt>
                <c:pt idx="1">
                  <c:v>0.057</c:v>
                </c:pt>
                <c:pt idx="2">
                  <c:v>0.009</c:v>
                </c:pt>
                <c:pt idx="3">
                  <c:v>-0.007</c:v>
                </c:pt>
                <c:pt idx="4">
                  <c:v>-0.001</c:v>
                </c:pt>
                <c:pt idx="5">
                  <c:v>-0.008</c:v>
                </c:pt>
                <c:pt idx="6">
                  <c:v>-0.034</c:v>
                </c:pt>
                <c:pt idx="7">
                  <c:v>-0.017</c:v>
                </c:pt>
                <c:pt idx="8">
                  <c:v>-0.291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4"/>
        </c:scaling>
        <c:delete val="0"/>
        <c:axPos val="b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Средний F1 детекторов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ручной набор (SEA, Agrawal, STAGGER, Sine, Mixed)</c:v>
                </c:pt>
              </c:strCache>
            </c:strRef>
          </c:tx>
          <c:spPr>
            <a:solidFill>
              <a:srgbClr val="A7B1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PageHinkley-up</c:v>
                  </c:pt>
                  <c:pt idx="1">
                    <c:v>FHDDM</c:v>
                  </c:pt>
                  <c:pt idx="2">
                    <c:v>HDDM_W</c:v>
                  </c:pt>
                  <c:pt idx="3">
                    <c:v>PageHinkley</c:v>
                  </c:pt>
                  <c:pt idx="4">
                    <c:v>HDDM_A</c:v>
                  </c:pt>
                  <c:pt idx="5">
                    <c:v>ADWIN</c:v>
                  </c:pt>
                  <c:pt idx="6">
                    <c:v>DDM</c:v>
                  </c:pt>
                  <c:pt idx="7">
                    <c:v>KSWIN</c:v>
                  </c:pt>
                  <c:pt idx="8">
                    <c:v>EDDM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0.982</c:v>
                </c:pt>
                <c:pt idx="1">
                  <c:v>0.751</c:v>
                </c:pt>
                <c:pt idx="2">
                  <c:v>0.623</c:v>
                </c:pt>
                <c:pt idx="3">
                  <c:v>0.72</c:v>
                </c:pt>
                <c:pt idx="4">
                  <c:v>0.932</c:v>
                </c:pt>
                <c:pt idx="5">
                  <c:v>0.833</c:v>
                </c:pt>
                <c:pt idx="6">
                  <c:v>0.88</c:v>
                </c:pt>
                <c:pt idx="7">
                  <c:v>0.445</c:v>
                </c:pt>
                <c:pt idx="8">
                  <c:v>0.347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автоматический набор e2_fast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PageHinkley-up</c:v>
                  </c:pt>
                  <c:pt idx="1">
                    <c:v>FHDDM</c:v>
                  </c:pt>
                  <c:pt idx="2">
                    <c:v>HDDM_W</c:v>
                  </c:pt>
                  <c:pt idx="3">
                    <c:v>PageHinkley</c:v>
                  </c:pt>
                  <c:pt idx="4">
                    <c:v>HDDM_A</c:v>
                  </c:pt>
                  <c:pt idx="5">
                    <c:v>ADWIN</c:v>
                  </c:pt>
                  <c:pt idx="6">
                    <c:v>DDM</c:v>
                  </c:pt>
                  <c:pt idx="7">
                    <c:v>KSWIN</c:v>
                  </c:pt>
                  <c:pt idx="8">
                    <c:v>EDDM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0.364</c:v>
                </c:pt>
                <c:pt idx="1">
                  <c:v>0.315</c:v>
                </c:pt>
                <c:pt idx="2">
                  <c:v>0.278</c:v>
                </c:pt>
                <c:pt idx="3">
                  <c:v>0.262</c:v>
                </c:pt>
                <c:pt idx="4">
                  <c:v>0.236</c:v>
                </c:pt>
                <c:pt idx="5">
                  <c:v>0.218</c:v>
                </c:pt>
                <c:pt idx="6">
                  <c:v>0.191</c:v>
                </c:pt>
                <c:pt idx="7">
                  <c:v>0.11</c:v>
                </c:pt>
                <c:pt idx="8">
                  <c:v>0.099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~20 с] Здравствуйте, уважаемые члены комиссии. Мы представляем коллективную выпускную работу о генерации бенчмарков для детекторов концептуального дрейфа. Я, Константин Будаев, расскажу о постановке задачи, формальной модели сценария и методе формирования наборов. Тимур Гарифзянов расскажет о реализации фреймворка и результатах экспериментов.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~35 с] Модели машинного обучения в эксплуатации теряют качество, когда меняется распределение данных, — это концептуальный дрейф. Для его обнаружения предложено много детекторов, но сравнивают их на нескольких вручную составленных потоках. Мы измерили величину смены концепта у классических генераторов river на единой шкале: она неконтролируема и лежит от 0,09 до 1,0, а малые изменения почти не представлены. Поэтому по таким бенчмаркам нельзя понять, при какой величине и скорости дрейфа детектор работает надёжно.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~35 с] Мы сравнили существующие средства по исходному коду и документации. MOA с модулем CD-MOA даёт метрики и статистику, но величина дрейфа там — внутренний параметр генератора. CapyMOA описывает сценарий и считает метрики, но наборы не формирует. Генератор Петижана–Уэбба калибрует величину, но только для категориальных данных и внезапного дрейфа. Ни одно средство не проверяет допустимость сценария полностью и не формирует наборы по плану эксперимента — это и есть пробелы, которые закрывает работа.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~25 с] Цель работы — разработать фреймворк генерации бенчмарков, в котором сценарий дрейфа задаётся формализованным набором параметров, а наборы сценариев формируются автоматически. Для этого решены четыре группы задач: построена формальная модель сценария, разработан метод формирования наборов, реализован фреймворк scendrift и проведено экспериментальное исследование. Объект исследования — методы выявления дрейфа, предмет — средства формирования сценариев для их оценки.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~35 с] Сценарий в нашей модели — кортеж из четырёх частей: базовая конфигурация потока, список событий дрейфа, протокол оценки и seed реализации. Каждое событие задаётся центром и шириной перехода, формой, видом, величиной и долей затронутых признаков. Над кортежем определены 14 ограничений допустимости и 4 предупреждения: например, величина реального дрейфа ограничена долей затронутых признаков. Недопустимый сценарий обнаруживается до генерации данных. Два seed разделяют геометрию концептов и выборку, поэтому повторы имеют одну и ту же истинную величину дрейфа.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~40 с] Главная идея модели — единая шкала величины. Мы измеряем величину дрейфа расстоянием полной вариации между совместными распределениями до и после события. Для калиброванного семейства получены точные формулы: для реального дрейфа это доля пространства, где меняется метка, для виртуального — функция сдвига, для априорного — изменение доли класса. Калибровка аналитическая, а не итерационная, как в известных генераторах. На графике видно, что при малой доле затронутых признаков и при дисбалансе большая величина недостижима: без проверки генератор молча выдал бы более слабый дрейф, чем заявлен.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~40 с] Метод формирования наборов — центральный результат. Пространство из 11 параметров покрывается планом эксперимента: последовательность Соболя дала самое равномерное покрытие, 0,021 против 0,040 у латинского гиперкуба. Часть точек плана недопустима, и мы сравнили три способа учёта ограничений. Отклонение теряет пятую часть бюджета и смещает баланс видов дрейфа. Проекция ставит 9,2 % сценариев на границу достижимости. Предложенные условные домены сужают домен зависимого параметра и сохраняют 99,9 % точек без скопления на границе — этот способ выбран по умолчанию.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[Будаев К. В., ~35 с] Эксперимент Э1 проверяет генератор по данным, независимо от истинной разметки. На 900 случайных сценариях отклонения фактической величины от заданной ведут себя как стандартный нормальный закон: стандартное отклонение от 0,95 до 0,97, систематического смещения нет. Формы перехода совпадают с теорией, а на реальных данных величина воспроизводится точно до массы одной строки. Генератор надёжен, и на нём можно сравнивать детекторы. Об этом расскажет Тимур Гарифзянов.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[Гарифзянов Т. Р., ~35 с] Модель и метод реализованы во фреймворке scendrift. Верхняя строка конвейера — формирование набора сценариев, нижняя — исполнение и анализ. Генератор строит поток с истинной разметкой, раннер прогоняет девять детекторов river и три базовые линии по схеме prequential, затем вычисляются метрики обнаружения и выполняется статистическое сравнение по Демшару. При проверке адаптеров мы нашли расхождение описания и реализации FHDDM в river и исправили вход. Корректность закрывают модульные тесты, всего 261.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[Гарифзянов Т. Р., ~35 с] Основной бенчмарк Э2 выполнен на автоматически сформированном наборе из 64 сценариев. Качество обнаружения низкое и неоднородное: средний F1 детекторов от 0,10 у EDDM до 0,36 у PageHinkley-up. Различия значимы по критерию Фридмана. Но периодический сброс, который вообще не смотрит на данные, получает F1 0,38 — выше любого детектора: его срабатывания просто попадают в окна допуска. Это известная «иллюзия прогресса», и мы показали её количественно.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[Гарифзянов Т. Р., ~35 с] Статистическое сравнение Э5 подтверждает это. По F1 7 из девяти детекторов значимо хуже периодического сброса, а по приросту accuracy базовой модели, наоборот, все 9 лучше него — периодический сброс здесь худший. Ранжирования по F1 и по accuracy не связаны: τ Кендалла равно −0,06. Порядок детекторов на диаграмме тот же, что на предыдущем слайде. Вывод для практики: F1 с окнами допуска нужно дополнять периодической базовой линией, частотой ложных тревог и сравнением со случайным уровнем.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[Гарифзянов Т. Р., ~40 с] Что определяет сложность обнаружения? На контролируемой сетке F1 растёт с величиной дрейфа: корреляция от 0,70 до 0,95, а с шириной перехода связь слабая. Доля затронутых признаков при фиксированной величине не влияет — это подтверждает единую шкалу. На диаграмме — превышение recall над случайным уровнем, вычисленным по частоте ложных тревог. На реальном дрейфе оно доходит до 0,6, а на виртуальном не больше 0,06: по потоку ошибок виртуальный дрейф не виден, что следует из модели. У EDDM обнаружения на уровне случайных.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[Гарифзянов Т. Р., ~35 с] Совпадают ли выводы с классическим ручным набором? Нет. На ручном наборе средний F1 от 0,35 до 0,98, на автоматическом — от 0,10 до 0,36. Согласие ранжирований не подтверждено, τ равно 0,39. Ручной набор покрывает 2 класса таксономии и в основном большие изменения, автоматический — 62. На реальных данных с внедрённым дрейфом виртуальный дрейф виден лучше, потому что модель там несовершенна. Это количественный аргумент за автоматическое формирование наборов.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[Гарифзянов Т. Р., ~30 с] Научная новизна работы — в четырёх результатах: формальная модель сценария с проверяемыми ограничениями, единая аналитически калиброванная шкала величины для трёх видов дрейфа, метод формирования наборов с условными доменами и методика описания областей отказа с поправкой на случайный уровень. Практически фреймворк позволяет выбирать детектор под конкретную задачу и проверять новые детекторы на воспроизводимых наборах. Детекторы, генераторы классических потоков и статистические критерии заимствованы, это указано в работе.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[Гарифзянов Т. Р., ~30 с] Подведём итоги. Цель достигнута: сценарий дрейфа формализован и проверяется до генерации, единая шкала величины реализована и подтверждена, наборы сценариев формируются автоматически. Эксперименты показали, что на равномерном наборе качество детекторов низкое, F1 нужно дополнять базовыми линиями, главный фактор сложности — величина дрейфа, а ручные бенчмарки завышают качество. Развитие работы — нелинейные калиброванные семейства и детекторы без учителя. Спасибо за внимание, мы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749808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Докладчик: Будаев К. В.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749808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Докладчик: Гарифзянов Т. Р.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749808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Докладчик: Гарифзянов Т. Р.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Финансовый университет при Правительстве Российской Федерации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Факультет информационных технологий и анализа больших данных · Кафедра искусственного интеллекта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25880"/>
            <a:ext cx="104241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15468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88620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54864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Москва — 2027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2588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фреймворка генерации бенчмарков систем выявления концептуального дрейфа с автоматизированным формированием и параметризацией сценариев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1546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Выпускная квалификационная работа (коллективная) · направление 01.03.02 «Прикладная математика и информатика»</a:t>
            </a:r>
            <a:endParaRPr lang="en-US" sz="1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38862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Выполнили студенты группы ПМ23-5: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Будаев Константин Владимирович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Гарифзянов Тимур Русланович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Научный руководитель: ассистент кафедры ИИ Окунева Эвелина Александровна</a:t>
            </a:r>
            <a:endParaRPr lang="en-US" sz="1500" dirty="0"/>
          </a:p>
        </p:txBody>
      </p:sp>
      <p:sp>
        <p:nvSpPr>
          <p:cNvPr id="5" name="stream-dot-1"/>
          <p:cNvSpPr/>
          <p:nvPr/>
        </p:nvSpPr>
        <p:spPr>
          <a:xfrm>
            <a:off x="758952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ream-dot-2"/>
          <p:cNvSpPr/>
          <p:nvPr/>
        </p:nvSpPr>
        <p:spPr>
          <a:xfrm>
            <a:off x="777240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ream-dot-3"/>
          <p:cNvSpPr/>
          <p:nvPr/>
        </p:nvSpPr>
        <p:spPr>
          <a:xfrm>
            <a:off x="795528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ream-dot-4"/>
          <p:cNvSpPr/>
          <p:nvPr/>
        </p:nvSpPr>
        <p:spPr>
          <a:xfrm>
            <a:off x="813816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ream-dot-5"/>
          <p:cNvSpPr/>
          <p:nvPr/>
        </p:nvSpPr>
        <p:spPr>
          <a:xfrm>
            <a:off x="832104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ream-dot-6"/>
          <p:cNvSpPr/>
          <p:nvPr/>
        </p:nvSpPr>
        <p:spPr>
          <a:xfrm>
            <a:off x="850392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ream-dot-7"/>
          <p:cNvSpPr/>
          <p:nvPr/>
        </p:nvSpPr>
        <p:spPr>
          <a:xfrm>
            <a:off x="868680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ream-dot-8"/>
          <p:cNvSpPr/>
          <p:nvPr/>
        </p:nvSpPr>
        <p:spPr>
          <a:xfrm>
            <a:off x="886968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ream-dot-9"/>
          <p:cNvSpPr/>
          <p:nvPr/>
        </p:nvSpPr>
        <p:spPr>
          <a:xfrm>
            <a:off x="9052560" y="45720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ream-dot-10"/>
          <p:cNvSpPr/>
          <p:nvPr/>
        </p:nvSpPr>
        <p:spPr>
          <a:xfrm>
            <a:off x="9235440" y="448818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ream-dot-11"/>
          <p:cNvSpPr/>
          <p:nvPr/>
        </p:nvSpPr>
        <p:spPr>
          <a:xfrm>
            <a:off x="9418320" y="440436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ream-dot-12"/>
          <p:cNvSpPr/>
          <p:nvPr/>
        </p:nvSpPr>
        <p:spPr>
          <a:xfrm>
            <a:off x="9601200" y="432054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stream-dot-13"/>
          <p:cNvSpPr/>
          <p:nvPr/>
        </p:nvSpPr>
        <p:spPr>
          <a:xfrm>
            <a:off x="9784080" y="423672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stream-dot-14"/>
          <p:cNvSpPr/>
          <p:nvPr/>
        </p:nvSpPr>
        <p:spPr>
          <a:xfrm>
            <a:off x="9966960" y="415290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stream-dot-15"/>
          <p:cNvSpPr/>
          <p:nvPr/>
        </p:nvSpPr>
        <p:spPr>
          <a:xfrm>
            <a:off x="1014984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stream-dot-16"/>
          <p:cNvSpPr/>
          <p:nvPr/>
        </p:nvSpPr>
        <p:spPr>
          <a:xfrm>
            <a:off x="1033272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stream-dot-17"/>
          <p:cNvSpPr/>
          <p:nvPr/>
        </p:nvSpPr>
        <p:spPr>
          <a:xfrm>
            <a:off x="1051560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stream-dot-18"/>
          <p:cNvSpPr/>
          <p:nvPr/>
        </p:nvSpPr>
        <p:spPr>
          <a:xfrm>
            <a:off x="1069848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stream-dot-19"/>
          <p:cNvSpPr/>
          <p:nvPr/>
        </p:nvSpPr>
        <p:spPr>
          <a:xfrm>
            <a:off x="1088136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stream-dot-20"/>
          <p:cNvSpPr/>
          <p:nvPr/>
        </p:nvSpPr>
        <p:spPr>
          <a:xfrm>
            <a:off x="1106424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stream-dot-21"/>
          <p:cNvSpPr/>
          <p:nvPr/>
        </p:nvSpPr>
        <p:spPr>
          <a:xfrm>
            <a:off x="1124712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stream-dot-22"/>
          <p:cNvSpPr/>
          <p:nvPr/>
        </p:nvSpPr>
        <p:spPr>
          <a:xfrm>
            <a:off x="11430000" y="406908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-23"/>
          <p:cNvSpPr txBox="1"/>
          <p:nvPr/>
        </p:nvSpPr>
        <p:spPr>
          <a:xfrm>
            <a:off x="7589520" y="4892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концепт A → концепт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Детекторы дрейфа сравнивают на потоках с неконтролируемой величиной дрейфа</a:t>
            </a:r>
            <a:endParaRPr lang="en-US" sz="2800" dirty="0"/>
          </a:p>
        </p:txBody>
      </p:sp>
      <p:sp>
        <p:nvSpPr>
          <p:cNvPr id="3" name="bullets-24"/>
          <p:cNvSpPr txBox="1"/>
          <p:nvPr/>
        </p:nvSpPr>
        <p:spPr>
          <a:xfrm>
            <a:off x="548640" y="160020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Модели в эксплуатации теряют качество из-за концептуального дрейфа — изменения распределения P(X, y) во времени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Детекторов предложено много: DDM, EDDM, ADWIN, KSWIN, Page–Hinkley, HDDM, FHDDM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Сравнивают их на нескольких вручную составленных потоках: SEA, Agrawal, STAGGER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Нельзя ответить, при какой величине и скорости дрейфа детектор надёжно работает</a:t>
            </a:r>
            <a:endParaRPr lang="en-US" sz="1800" dirty="0"/>
          </a:p>
        </p:txBody>
      </p:sp>
      <p:sp>
        <p:nvSpPr>
          <p:cNvPr id="4" name="card-25"/>
          <p:cNvSpPr/>
          <p:nvPr/>
        </p:nvSpPr>
        <p:spPr>
          <a:xfrm>
            <a:off x="7040880" y="1600200"/>
            <a:ext cx="4602175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</p:sp>
      <p:sp>
        <p:nvSpPr>
          <p:cNvPr id="5" name="text-26"/>
          <p:cNvSpPr txBox="1"/>
          <p:nvPr/>
        </p:nvSpPr>
        <p:spPr>
          <a:xfrm>
            <a:off x="7406640" y="1920240"/>
            <a:ext cx="3870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Величина смены концепта у классических генераторов river (расстояние полной вариации)</a:t>
            </a:r>
            <a:endParaRPr lang="en-US" sz="1500" dirty="0"/>
          </a:p>
        </p:txBody>
      </p:sp>
      <p:sp>
        <p:nvSpPr>
          <p:cNvPr id="6" name="text-27"/>
          <p:cNvSpPr txBox="1"/>
          <p:nvPr/>
        </p:nvSpPr>
        <p:spPr>
          <a:xfrm>
            <a:off x="7406640" y="274320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0,09 – 1,0</a:t>
            </a:r>
            <a:endParaRPr lang="en-US" sz="5400" dirty="0"/>
          </a:p>
        </p:txBody>
      </p:sp>
      <p:sp>
        <p:nvSpPr>
          <p:cNvPr id="7" name="text-28"/>
          <p:cNvSpPr txBox="1"/>
          <p:nvPr/>
        </p:nvSpPr>
        <p:spPr>
          <a:xfrm>
            <a:off x="7406640" y="3931920"/>
            <a:ext cx="3870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лишь 4 из 22 смен концепта меньше 0,25: малые и средние изменения ручные бенчмарки почти не покрывают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 одно существующее средство не решает задачу целиком</a:t>
            </a:r>
            <a:endParaRPr lang="en-US" sz="2800" dirty="0"/>
          </a:p>
        </p:txBody>
      </p:sp>
      <p:graphicFrame>
        <p:nvGraphicFramePr>
          <p:cNvPr id="4" name="table-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Средство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Величина с измеримым смыслом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допустимости сценария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Автоматическое формирование наборов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Метрики обнаружения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Статистическое сравнение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MOA и CD-MOA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CapyMOA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stream-learn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генератор Петижана–Уэбба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scendrift (наша работа)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" name="text-30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+ есть   ± частично   – нет   ·   по исходному коду и документации актуальных версий, октябрь 2026 г.</a:t>
            </a:r>
            <a:endParaRPr lang="en-US" sz="1200" dirty="0"/>
          </a:p>
        </p:txBody>
      </p:sp>
      <p:sp>
        <p:nvSpPr>
          <p:cNvPr id="5" name="text-31"/>
          <p:cNvSpPr txBox="1"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Пять пробелов: нет общей шкалы величины, сценарий не проверяется, наборы составляют вручную, генерация и оценка разнесены по инструментам, области отказа изучают по одному параметру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Цель: фреймворк, формирующий сценарии дрейфа автоматически и с проверяемым смыслом</a:t>
            </a:r>
            <a:endParaRPr lang="en-US" sz="2800" dirty="0"/>
          </a:p>
        </p:txBody>
      </p:sp>
      <p:sp>
        <p:nvSpPr>
          <p:cNvPr id="3" name="card-32"/>
          <p:cNvSpPr/>
          <p:nvPr/>
        </p:nvSpPr>
        <p:spPr>
          <a:xfrm>
            <a:off x="548640" y="1645920"/>
            <a:ext cx="2567864" cy="3246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4" name="marker-3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marker-text-34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35"/>
          <p:cNvSpPr txBox="1"/>
          <p:nvPr/>
        </p:nvSpPr>
        <p:spPr>
          <a:xfrm>
            <a:off x="822960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Формальная модель сценария</a:t>
            </a:r>
            <a:endParaRPr lang="en-US" sz="1800" dirty="0"/>
          </a:p>
        </p:txBody>
      </p:sp>
      <p:sp>
        <p:nvSpPr>
          <p:cNvPr id="7" name="text-36"/>
          <p:cNvSpPr txBox="1"/>
          <p:nvPr/>
        </p:nvSpPr>
        <p:spPr>
          <a:xfrm>
            <a:off x="822960" y="352044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кортеж параметров, ограничения допустимости, единая шкала величины дрейфа</a:t>
            </a:r>
            <a:endParaRPr lang="en-US" sz="1500" dirty="0"/>
          </a:p>
        </p:txBody>
      </p:sp>
      <p:sp>
        <p:nvSpPr>
          <p:cNvPr id="8" name="card-37"/>
          <p:cNvSpPr/>
          <p:nvPr/>
        </p:nvSpPr>
        <p:spPr>
          <a:xfrm>
            <a:off x="3390824" y="1645920"/>
            <a:ext cx="2567864" cy="3246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9" name="marker-38"/>
          <p:cNvSpPr/>
          <p:nvPr/>
        </p:nvSpPr>
        <p:spPr>
          <a:xfrm>
            <a:off x="3665144" y="1920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marker-text-39"/>
          <p:cNvSpPr txBox="1"/>
          <p:nvPr/>
        </p:nvSpPr>
        <p:spPr>
          <a:xfrm>
            <a:off x="366514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40"/>
          <p:cNvSpPr txBox="1"/>
          <p:nvPr/>
        </p:nvSpPr>
        <p:spPr>
          <a:xfrm>
            <a:off x="3665144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Метод формирования наборов</a:t>
            </a:r>
            <a:endParaRPr lang="en-US" sz="1800" dirty="0"/>
          </a:p>
        </p:txBody>
      </p:sp>
      <p:sp>
        <p:nvSpPr>
          <p:cNvPr id="12" name="text-41"/>
          <p:cNvSpPr txBox="1"/>
          <p:nvPr/>
        </p:nvSpPr>
        <p:spPr>
          <a:xfrm>
            <a:off x="3665144" y="352044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планы эксперимента над пространством параметров с учётом ограничений</a:t>
            </a:r>
            <a:endParaRPr lang="en-US" sz="1500" dirty="0"/>
          </a:p>
        </p:txBody>
      </p:sp>
      <p:sp>
        <p:nvSpPr>
          <p:cNvPr id="13" name="card-42"/>
          <p:cNvSpPr/>
          <p:nvPr/>
        </p:nvSpPr>
        <p:spPr>
          <a:xfrm>
            <a:off x="6233008" y="1645920"/>
            <a:ext cx="2567864" cy="3246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14" name="marker-43"/>
          <p:cNvSpPr/>
          <p:nvPr/>
        </p:nvSpPr>
        <p:spPr>
          <a:xfrm>
            <a:off x="6507328" y="1920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marker-text-44"/>
          <p:cNvSpPr txBox="1"/>
          <p:nvPr/>
        </p:nvSpPr>
        <p:spPr>
          <a:xfrm>
            <a:off x="650732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-45"/>
          <p:cNvSpPr txBox="1"/>
          <p:nvPr/>
        </p:nvSpPr>
        <p:spPr>
          <a:xfrm>
            <a:off x="6507328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Фреймворк scendrift</a:t>
            </a:r>
            <a:endParaRPr lang="en-US" sz="1800" dirty="0"/>
          </a:p>
        </p:txBody>
      </p:sp>
      <p:sp>
        <p:nvSpPr>
          <p:cNvPr id="17" name="text-46"/>
          <p:cNvSpPr txBox="1"/>
          <p:nvPr/>
        </p:nvSpPr>
        <p:spPr>
          <a:xfrm>
            <a:off x="6507328" y="352044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генерация потоков с истинной разметкой, прогон детекторов, метрики, статистика, отчёты</a:t>
            </a:r>
            <a:endParaRPr lang="en-US" sz="1500" dirty="0"/>
          </a:p>
        </p:txBody>
      </p:sp>
      <p:sp>
        <p:nvSpPr>
          <p:cNvPr id="18" name="card-47"/>
          <p:cNvSpPr/>
          <p:nvPr/>
        </p:nvSpPr>
        <p:spPr>
          <a:xfrm>
            <a:off x="9075191" y="1645920"/>
            <a:ext cx="2567864" cy="3246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sp>
        <p:nvSpPr>
          <p:cNvPr id="19" name="marker-48"/>
          <p:cNvSpPr/>
          <p:nvPr/>
        </p:nvSpPr>
        <p:spPr>
          <a:xfrm>
            <a:off x="9349511" y="1920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marker-text-49"/>
          <p:cNvSpPr txBox="1"/>
          <p:nvPr/>
        </p:nvSpPr>
        <p:spPr>
          <a:xfrm>
            <a:off x="9349511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-50"/>
          <p:cNvSpPr txBox="1"/>
          <p:nvPr/>
        </p:nvSpPr>
        <p:spPr>
          <a:xfrm>
            <a:off x="9349511" y="2560320"/>
            <a:ext cx="2019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Экспериментальное исследование</a:t>
            </a:r>
            <a:endParaRPr lang="en-US" sz="1800" dirty="0"/>
          </a:p>
        </p:txBody>
      </p:sp>
      <p:sp>
        <p:nvSpPr>
          <p:cNvPr id="22" name="text-51"/>
          <p:cNvSpPr txBox="1"/>
          <p:nvPr/>
        </p:nvSpPr>
        <p:spPr>
          <a:xfrm>
            <a:off x="9349511" y="352044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проверка генератора и сравнение девяти детекторов river в восьми экспериментах</a:t>
            </a:r>
            <a:endParaRPr lang="en-US" sz="1500" dirty="0"/>
          </a:p>
        </p:txBody>
      </p:sp>
      <p:sp>
        <p:nvSpPr>
          <p:cNvPr id="23" name="text-52"/>
          <p:cNvSpPr txBox="1"/>
          <p:nvPr/>
        </p:nvSpPr>
        <p:spPr>
          <a:xfrm>
            <a:off x="548640" y="5166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Объект — методы выявления концептуального дрейфа в потоках данных. Предмет — методы и программные средства формирования параметризованных сценариев дрейфа для сравнительной оценки детекторов.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Сценарий дрейфа — проверяемый объект S = ⟨B, E, Ω, s⟩</a:t>
            </a:r>
            <a:endParaRPr lang="en-US" sz="2800" dirty="0"/>
          </a:p>
        </p:txBody>
      </p:sp>
      <p:sp>
        <p:nvSpPr>
          <p:cNvPr id="3" name="card-53"/>
          <p:cNvSpPr/>
          <p:nvPr/>
        </p:nvSpPr>
        <p:spPr>
          <a:xfrm>
            <a:off x="548640" y="160020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text-54"/>
          <p:cNvSpPr txBox="1"/>
          <p:nvPr/>
        </p:nvSpPr>
        <p:spPr>
          <a:xfrm>
            <a:off x="82296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5" name="text-55"/>
          <p:cNvSpPr txBox="1"/>
          <p:nvPr/>
        </p:nvSpPr>
        <p:spPr>
          <a:xfrm>
            <a:off x="1508760" y="1892808"/>
            <a:ext cx="1379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поток</a:t>
            </a:r>
            <a:endParaRPr lang="en-US" sz="1700" dirty="0"/>
          </a:p>
        </p:txBody>
      </p:sp>
      <p:sp>
        <p:nvSpPr>
          <p:cNvPr id="6" name="text-56"/>
          <p:cNvSpPr txBox="1"/>
          <p:nvPr/>
        </p:nvSpPr>
        <p:spPr>
          <a:xfrm>
            <a:off x="822960" y="25603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семейство генератора, длина, размерность, доля класса π₀, шум меток η, структурный seed</a:t>
            </a:r>
            <a:endParaRPr lang="en-US" sz="1500" dirty="0"/>
          </a:p>
        </p:txBody>
      </p:sp>
      <p:sp>
        <p:nvSpPr>
          <p:cNvPr id="7" name="card-57"/>
          <p:cNvSpPr/>
          <p:nvPr/>
        </p:nvSpPr>
        <p:spPr>
          <a:xfrm>
            <a:off x="3390824" y="160020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8" name="text-58"/>
          <p:cNvSpPr txBox="1"/>
          <p:nvPr/>
        </p:nvSpPr>
        <p:spPr>
          <a:xfrm>
            <a:off x="3665144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600" dirty="0"/>
          </a:p>
        </p:txBody>
      </p:sp>
      <p:sp>
        <p:nvSpPr>
          <p:cNvPr id="9" name="text-59"/>
          <p:cNvSpPr txBox="1"/>
          <p:nvPr/>
        </p:nvSpPr>
        <p:spPr>
          <a:xfrm>
            <a:off x="4350944" y="1892808"/>
            <a:ext cx="1379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события дрейфа</a:t>
            </a:r>
            <a:endParaRPr lang="en-US" sz="1700" dirty="0"/>
          </a:p>
        </p:txBody>
      </p:sp>
      <p:sp>
        <p:nvSpPr>
          <p:cNvPr id="10" name="text-60"/>
          <p:cNvSpPr txBox="1"/>
          <p:nvPr/>
        </p:nvSpPr>
        <p:spPr>
          <a:xfrm>
            <a:off x="3665144" y="25603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центр τ, ширина ℓ, форма φ, вид κ, величина m, доля признаков α, возврат ρ</a:t>
            </a:r>
            <a:endParaRPr lang="en-US" sz="1500" dirty="0"/>
          </a:p>
        </p:txBody>
      </p:sp>
      <p:sp>
        <p:nvSpPr>
          <p:cNvPr id="11" name="card-61"/>
          <p:cNvSpPr/>
          <p:nvPr/>
        </p:nvSpPr>
        <p:spPr>
          <a:xfrm>
            <a:off x="6233008" y="160020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2" name="text-62"/>
          <p:cNvSpPr txBox="1"/>
          <p:nvPr/>
        </p:nvSpPr>
        <p:spPr>
          <a:xfrm>
            <a:off x="6507328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endParaRPr lang="en-US" sz="3600" dirty="0"/>
          </a:p>
        </p:txBody>
      </p:sp>
      <p:sp>
        <p:nvSpPr>
          <p:cNvPr id="13" name="text-63"/>
          <p:cNvSpPr txBox="1"/>
          <p:nvPr/>
        </p:nvSpPr>
        <p:spPr>
          <a:xfrm>
            <a:off x="7193128" y="1892808"/>
            <a:ext cx="1379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протокол оценки</a:t>
            </a:r>
            <a:endParaRPr lang="en-US" sz="1700" dirty="0"/>
          </a:p>
        </p:txBody>
      </p:sp>
      <p:sp>
        <p:nvSpPr>
          <p:cNvPr id="14" name="text-64"/>
          <p:cNvSpPr txBox="1"/>
          <p:nvPr/>
        </p:nvSpPr>
        <p:spPr>
          <a:xfrm>
            <a:off x="6507328" y="25603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базовая модель, реакция на срабатывание, разогрев W, окно допуска Δ</a:t>
            </a:r>
            <a:endParaRPr lang="en-US" sz="1500" dirty="0"/>
          </a:p>
        </p:txBody>
      </p:sp>
      <p:sp>
        <p:nvSpPr>
          <p:cNvPr id="15" name="card-65"/>
          <p:cNvSpPr/>
          <p:nvPr/>
        </p:nvSpPr>
        <p:spPr>
          <a:xfrm>
            <a:off x="9075191" y="160020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6" name="text-66"/>
          <p:cNvSpPr txBox="1"/>
          <p:nvPr/>
        </p:nvSpPr>
        <p:spPr>
          <a:xfrm>
            <a:off x="9349511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600" dirty="0"/>
          </a:p>
        </p:txBody>
      </p:sp>
      <p:sp>
        <p:nvSpPr>
          <p:cNvPr id="17" name="text-67"/>
          <p:cNvSpPr txBox="1"/>
          <p:nvPr/>
        </p:nvSpPr>
        <p:spPr>
          <a:xfrm>
            <a:off x="10035311" y="1892808"/>
            <a:ext cx="1379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seed реализации</a:t>
            </a:r>
            <a:endParaRPr lang="en-US" sz="1700" dirty="0"/>
          </a:p>
        </p:txBody>
      </p:sp>
      <p:sp>
        <p:nvSpPr>
          <p:cNvPr id="18" name="text-68"/>
          <p:cNvSpPr txBox="1"/>
          <p:nvPr/>
        </p:nvSpPr>
        <p:spPr>
          <a:xfrm>
            <a:off x="9349511" y="256032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выборка объектов и шум отделены от геометрии концептов</a:t>
            </a:r>
            <a:endParaRPr lang="en-US" sz="1500" dirty="0"/>
          </a:p>
        </p:txBody>
      </p:sp>
      <p:sp>
        <p:nvSpPr>
          <p:cNvPr id="19" name="stat-value-69"/>
          <p:cNvSpPr txBox="1"/>
          <p:nvPr/>
        </p:nvSpPr>
        <p:spPr>
          <a:xfrm>
            <a:off x="548640" y="4434840"/>
            <a:ext cx="541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+ 4</a:t>
            </a:r>
            <a:endParaRPr lang="en-US" sz="3400" dirty="0"/>
          </a:p>
        </p:txBody>
      </p:sp>
      <p:sp>
        <p:nvSpPr>
          <p:cNvPr id="20" name="stat-label-70"/>
          <p:cNvSpPr txBox="1"/>
          <p:nvPr/>
        </p:nvSpPr>
        <p:spPr>
          <a:xfrm>
            <a:off x="548640" y="5056632"/>
            <a:ext cx="54100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ограничений допустимости и предупреждений: недостижимые сочетания параметров обнаруживаются до генерации данных и исправляются (repair)</a:t>
            </a:r>
            <a:endParaRPr lang="en-US" sz="1400" dirty="0"/>
          </a:p>
        </p:txBody>
      </p:sp>
      <p:sp>
        <p:nvSpPr>
          <p:cNvPr id="21" name="stat-value-71"/>
          <p:cNvSpPr txBox="1"/>
          <p:nvPr/>
        </p:nvSpPr>
        <p:spPr>
          <a:xfrm>
            <a:off x="6233008" y="4434840"/>
            <a:ext cx="541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YAML / JSON</a:t>
            </a:r>
            <a:endParaRPr lang="en-US" sz="3400" dirty="0"/>
          </a:p>
        </p:txBody>
      </p:sp>
      <p:sp>
        <p:nvSpPr>
          <p:cNvPr id="22" name="stat-label-72"/>
          <p:cNvSpPr txBox="1"/>
          <p:nvPr/>
        </p:nvSpPr>
        <p:spPr>
          <a:xfrm>
            <a:off x="6233008" y="5056632"/>
            <a:ext cx="54100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декларативное описание с JSON Schema; идентификатор сценария — хэш его содержимого, поэтому результаты кэшируются и воспроизводятся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Величина дрейфа — расстояние полной вариации, единое для трёх видов дрейфа</a:t>
            </a:r>
            <a:endParaRPr lang="en-US" sz="2800" dirty="0"/>
          </a:p>
        </p:txBody>
      </p:sp>
      <p:sp>
        <p:nvSpPr>
          <p:cNvPr id="3" name="card-73"/>
          <p:cNvSpPr/>
          <p:nvPr/>
        </p:nvSpPr>
        <p:spPr>
          <a:xfrm>
            <a:off x="548640" y="1508760"/>
            <a:ext cx="351525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ext-74"/>
          <p:cNvSpPr txBox="1"/>
          <p:nvPr/>
        </p:nvSpPr>
        <p:spPr>
          <a:xfrm>
            <a:off x="822960" y="1645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реальный: меняется P(y | X)</a:t>
            </a:r>
            <a:endParaRPr lang="en-US" sz="1500" dirty="0"/>
          </a:p>
        </p:txBody>
      </p:sp>
      <p:sp>
        <p:nvSpPr>
          <p:cNvPr id="5" name="text-75"/>
          <p:cNvSpPr txBox="1"/>
          <p:nvPr/>
        </p:nvSpPr>
        <p:spPr>
          <a:xfrm>
            <a:off x="822960" y="201168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P( g₀(x) ≠ g₁(x) )</a:t>
            </a:r>
            <a:endParaRPr lang="en-US" sz="2200" dirty="0"/>
          </a:p>
        </p:txBody>
      </p:sp>
      <p:sp>
        <p:nvSpPr>
          <p:cNvPr id="6" name="text-76"/>
          <p:cNvSpPr txBox="1"/>
          <p:nvPr/>
        </p:nvSpPr>
        <p:spPr>
          <a:xfrm>
            <a:off x="822960" y="253288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доля пространства, где меняется метка</a:t>
            </a:r>
            <a:endParaRPr lang="en-US" sz="1400" dirty="0"/>
          </a:p>
        </p:txBody>
      </p:sp>
      <p:sp>
        <p:nvSpPr>
          <p:cNvPr id="7" name="card-77"/>
          <p:cNvSpPr/>
          <p:nvPr/>
        </p:nvSpPr>
        <p:spPr>
          <a:xfrm>
            <a:off x="4338218" y="1508760"/>
            <a:ext cx="351525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text-78"/>
          <p:cNvSpPr txBox="1"/>
          <p:nvPr/>
        </p:nvSpPr>
        <p:spPr>
          <a:xfrm>
            <a:off x="4612538" y="1645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виртуальный: меняется P(X)</a:t>
            </a:r>
            <a:endParaRPr lang="en-US" sz="1500" dirty="0"/>
          </a:p>
        </p:txBody>
      </p:sp>
      <p:sp>
        <p:nvSpPr>
          <p:cNvPr id="9" name="text-79"/>
          <p:cNvSpPr txBox="1"/>
          <p:nvPr/>
        </p:nvSpPr>
        <p:spPr>
          <a:xfrm>
            <a:off x="4612538" y="201168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2Φ(δ/2) − 1</a:t>
            </a:r>
            <a:endParaRPr lang="en-US" sz="2200" dirty="0"/>
          </a:p>
        </p:txBody>
      </p:sp>
      <p:sp>
        <p:nvSpPr>
          <p:cNvPr id="10" name="text-80"/>
          <p:cNvSpPr txBox="1"/>
          <p:nvPr/>
        </p:nvSpPr>
        <p:spPr>
          <a:xfrm>
            <a:off x="4612538" y="253288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δ — норма сдвига центра признаков</a:t>
            </a:r>
            <a:endParaRPr lang="en-US" sz="1400" dirty="0"/>
          </a:p>
        </p:txBody>
      </p:sp>
      <p:sp>
        <p:nvSpPr>
          <p:cNvPr id="11" name="card-81"/>
          <p:cNvSpPr/>
          <p:nvPr/>
        </p:nvSpPr>
        <p:spPr>
          <a:xfrm>
            <a:off x="8127797" y="1508760"/>
            <a:ext cx="351525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text-82"/>
          <p:cNvSpPr txBox="1"/>
          <p:nvPr/>
        </p:nvSpPr>
        <p:spPr>
          <a:xfrm>
            <a:off x="8402117" y="1645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априорный: меняется P(y)</a:t>
            </a:r>
            <a:endParaRPr lang="en-US" sz="1500" dirty="0"/>
          </a:p>
        </p:txBody>
      </p:sp>
      <p:sp>
        <p:nvSpPr>
          <p:cNvPr id="13" name="text-83"/>
          <p:cNvSpPr txBox="1"/>
          <p:nvPr/>
        </p:nvSpPr>
        <p:spPr>
          <a:xfrm>
            <a:off x="8402117" y="201168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| π₁ − π₀ |</a:t>
            </a:r>
            <a:endParaRPr lang="en-US" sz="2200" dirty="0"/>
          </a:p>
        </p:txBody>
      </p:sp>
      <p:sp>
        <p:nvSpPr>
          <p:cNvPr id="14" name="text-84"/>
          <p:cNvSpPr txBox="1"/>
          <p:nvPr/>
        </p:nvSpPr>
        <p:spPr>
          <a:xfrm>
            <a:off x="8402117" y="2532888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изменение доли класса</a:t>
            </a:r>
            <a:endParaRPr lang="en-US" sz="1400" dirty="0"/>
          </a:p>
        </p:txBody>
      </p:sp>
      <p:pic>
        <p:nvPicPr>
          <p:cNvPr id="15" name="figure-85" descr="Калибровочная кривая реального дрейфа и наибольшая достижимая величина в зависимости от доли затронутых признак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0"/>
            <a:ext cx="8778240" cy="2774604"/>
          </a:xfrm>
          <a:prstGeom prst="rect">
            <a:avLst/>
          </a:prstGeom>
        </p:spPr>
      </p:pic>
      <p:sp>
        <p:nvSpPr>
          <p:cNvPr id="16" name="text-86"/>
          <p:cNvSpPr txBox="1"/>
          <p:nvPr/>
        </p:nvSpPr>
        <p:spPr>
          <a:xfrm>
            <a:off x="9646920" y="3337560"/>
            <a:ext cx="19961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Калибровка аналитическая: угол поворота находится по формуле через двумерное нормальное распределение, без итерационного подбора. Недостижимая величина — нарушение ограничения C10.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Наборы сценариев формируются автоматически: план Соболя и условные домены</a:t>
            </a:r>
            <a:endParaRPr lang="en-US" sz="2800" dirty="0"/>
          </a:p>
        </p:txBody>
      </p:sp>
      <p:sp>
        <p:nvSpPr>
          <p:cNvPr id="3" name="step-87"/>
          <p:cNvSpPr/>
          <p:nvPr/>
        </p:nvSpPr>
        <p:spPr>
          <a:xfrm>
            <a:off x="548640" y="1508760"/>
            <a:ext cx="1889699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4" name="text-88"/>
          <p:cNvSpPr txBox="1"/>
          <p:nvPr/>
        </p:nvSpPr>
        <p:spPr>
          <a:xfrm>
            <a:off x="658368" y="150876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Пространство: 11 параметров</a:t>
            </a:r>
            <a:endParaRPr lang="en-US" sz="1400" dirty="0"/>
          </a:p>
        </p:txBody>
      </p:sp>
      <p:sp>
        <p:nvSpPr>
          <p:cNvPr id="5" name="arrow-89"/>
          <p:cNvSpPr/>
          <p:nvPr/>
        </p:nvSpPr>
        <p:spPr>
          <a:xfrm>
            <a:off x="2511491" y="1783080"/>
            <a:ext cx="265176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6" name="step-90"/>
          <p:cNvSpPr/>
          <p:nvPr/>
        </p:nvSpPr>
        <p:spPr>
          <a:xfrm>
            <a:off x="2849819" y="1508760"/>
            <a:ext cx="1889699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7" name="text-91"/>
          <p:cNvSpPr txBox="1"/>
          <p:nvPr/>
        </p:nvSpPr>
        <p:spPr>
          <a:xfrm>
            <a:off x="2959547" y="150876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План эксперимента: Соболь</a:t>
            </a:r>
            <a:endParaRPr lang="en-US" sz="1400" dirty="0"/>
          </a:p>
        </p:txBody>
      </p:sp>
      <p:sp>
        <p:nvSpPr>
          <p:cNvPr id="8" name="arrow-92"/>
          <p:cNvSpPr/>
          <p:nvPr/>
        </p:nvSpPr>
        <p:spPr>
          <a:xfrm>
            <a:off x="4812670" y="1783080"/>
            <a:ext cx="265176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step-93"/>
          <p:cNvSpPr/>
          <p:nvPr/>
        </p:nvSpPr>
        <p:spPr>
          <a:xfrm>
            <a:off x="5150998" y="1508760"/>
            <a:ext cx="1889699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10" name="text-94"/>
          <p:cNvSpPr txBox="1"/>
          <p:nvPr/>
        </p:nvSpPr>
        <p:spPr>
          <a:xfrm>
            <a:off x="5260726" y="150876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Сценарий по шаблону</a:t>
            </a:r>
            <a:endParaRPr lang="en-US" sz="1400" dirty="0"/>
          </a:p>
        </p:txBody>
      </p:sp>
      <p:sp>
        <p:nvSpPr>
          <p:cNvPr id="11" name="arrow-95"/>
          <p:cNvSpPr/>
          <p:nvPr/>
        </p:nvSpPr>
        <p:spPr>
          <a:xfrm>
            <a:off x="7113849" y="1783080"/>
            <a:ext cx="265176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2" name="step-96"/>
          <p:cNvSpPr/>
          <p:nvPr/>
        </p:nvSpPr>
        <p:spPr>
          <a:xfrm>
            <a:off x="7452177" y="1508760"/>
            <a:ext cx="1889699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13" name="text-97"/>
          <p:cNvSpPr txBox="1"/>
          <p:nvPr/>
        </p:nvSpPr>
        <p:spPr>
          <a:xfrm>
            <a:off x="7561905" y="150876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Учёт ограничений</a:t>
            </a:r>
            <a:endParaRPr lang="en-US" sz="1400" dirty="0"/>
          </a:p>
        </p:txBody>
      </p:sp>
      <p:sp>
        <p:nvSpPr>
          <p:cNvPr id="14" name="arrow-98"/>
          <p:cNvSpPr/>
          <p:nvPr/>
        </p:nvSpPr>
        <p:spPr>
          <a:xfrm>
            <a:off x="9415028" y="1783080"/>
            <a:ext cx="265176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5" name="step-99"/>
          <p:cNvSpPr/>
          <p:nvPr/>
        </p:nvSpPr>
        <p:spPr>
          <a:xfrm>
            <a:off x="9753356" y="1508760"/>
            <a:ext cx="1889699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16" name="text-100"/>
          <p:cNvSpPr txBox="1"/>
          <p:nvPr/>
        </p:nvSpPr>
        <p:spPr>
          <a:xfrm>
            <a:off x="9863084" y="150876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Набор и манифест</a:t>
            </a:r>
            <a:endParaRPr lang="en-US" sz="1400" dirty="0"/>
          </a:p>
        </p:txBody>
      </p:sp>
      <p:sp>
        <p:nvSpPr>
          <p:cNvPr id="17" name="text-101"/>
          <p:cNvSpPr txBox="1"/>
          <p:nvPr/>
        </p:nvSpPr>
        <p:spPr>
          <a:xfrm>
            <a:off x="548640" y="2560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Если точка плана недопустима, возможны три способа учёта ограничений:</a:t>
            </a:r>
            <a:endParaRPr lang="en-US" sz="1600" dirty="0"/>
          </a:p>
        </p:txBody>
      </p:sp>
      <p:sp>
        <p:nvSpPr>
          <p:cNvPr id="18" name="card-102"/>
          <p:cNvSpPr/>
          <p:nvPr/>
        </p:nvSpPr>
        <p:spPr>
          <a:xfrm>
            <a:off x="548640" y="3063240"/>
            <a:ext cx="351525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9" name="text-103"/>
          <p:cNvSpPr txBox="1"/>
          <p:nvPr/>
        </p:nvSpPr>
        <p:spPr>
          <a:xfrm>
            <a:off x="822960" y="32004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Отклонение</a:t>
            </a:r>
            <a:endParaRPr lang="en-US" sz="1600" dirty="0"/>
          </a:p>
        </p:txBody>
      </p:sp>
      <p:sp>
        <p:nvSpPr>
          <p:cNvPr id="20" name="stat-value-104"/>
          <p:cNvSpPr txBox="1"/>
          <p:nvPr/>
        </p:nvSpPr>
        <p:spPr>
          <a:xfrm>
            <a:off x="822960" y="361188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79,4 %</a:t>
            </a:r>
            <a:endParaRPr lang="en-US" sz="3400" dirty="0"/>
          </a:p>
        </p:txBody>
      </p:sp>
      <p:sp>
        <p:nvSpPr>
          <p:cNvPr id="21" name="stat-label-105"/>
          <p:cNvSpPr txBox="1"/>
          <p:nvPr/>
        </p:nvSpPr>
        <p:spPr>
          <a:xfrm>
            <a:off x="822960" y="4233672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точек принято; доля реального дрейфа падает с 32,3 % до 23,8 % — баланс плана нарушен</a:t>
            </a:r>
            <a:endParaRPr lang="en-US" sz="1400" dirty="0"/>
          </a:p>
        </p:txBody>
      </p:sp>
      <p:sp>
        <p:nvSpPr>
          <p:cNvPr id="22" name="card-106"/>
          <p:cNvSpPr/>
          <p:nvPr/>
        </p:nvSpPr>
        <p:spPr>
          <a:xfrm>
            <a:off x="4338218" y="3063240"/>
            <a:ext cx="351525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23" name="text-107"/>
          <p:cNvSpPr txBox="1"/>
          <p:nvPr/>
        </p:nvSpPr>
        <p:spPr>
          <a:xfrm>
            <a:off x="4612538" y="32004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Проекция на границу</a:t>
            </a:r>
            <a:endParaRPr lang="en-US" sz="1600" dirty="0"/>
          </a:p>
        </p:txBody>
      </p:sp>
      <p:sp>
        <p:nvSpPr>
          <p:cNvPr id="24" name="stat-value-108"/>
          <p:cNvSpPr txBox="1"/>
          <p:nvPr/>
        </p:nvSpPr>
        <p:spPr>
          <a:xfrm>
            <a:off x="4612538" y="361188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9,2 %</a:t>
            </a:r>
            <a:endParaRPr lang="en-US" sz="3400" dirty="0"/>
          </a:p>
        </p:txBody>
      </p:sp>
      <p:sp>
        <p:nvSpPr>
          <p:cNvPr id="25" name="stat-label-109"/>
          <p:cNvSpPr txBox="1"/>
          <p:nvPr/>
        </p:nvSpPr>
        <p:spPr>
          <a:xfrm>
            <a:off x="4612538" y="4233672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сценариев оказываются на границе достижимости — набор смещён к «крайним» сценариям</a:t>
            </a:r>
            <a:endParaRPr lang="en-US" sz="1400" dirty="0"/>
          </a:p>
        </p:txBody>
      </p:sp>
      <p:sp>
        <p:nvSpPr>
          <p:cNvPr id="26" name="card-110"/>
          <p:cNvSpPr/>
          <p:nvPr/>
        </p:nvSpPr>
        <p:spPr>
          <a:xfrm>
            <a:off x="8127797" y="3063240"/>
            <a:ext cx="3515258" cy="2514600"/>
          </a:xfrm>
          <a:prstGeom prst="roundRect">
            <a:avLst>
              <a:gd name="adj" fmla="val 2909"/>
            </a:avLst>
          </a:prstGeom>
          <a:solidFill>
            <a:srgbClr val="E3F5EE"/>
          </a:solidFill>
          <a:ln/>
        </p:spPr>
      </p:sp>
      <p:sp>
        <p:nvSpPr>
          <p:cNvPr id="27" name="text-111"/>
          <p:cNvSpPr txBox="1"/>
          <p:nvPr/>
        </p:nvSpPr>
        <p:spPr>
          <a:xfrm>
            <a:off x="8402117" y="320040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Условные домены (наш выбор)</a:t>
            </a:r>
            <a:endParaRPr lang="en-US" sz="1600" dirty="0"/>
          </a:p>
        </p:txBody>
      </p:sp>
      <p:sp>
        <p:nvSpPr>
          <p:cNvPr id="28" name="stat-value-112"/>
          <p:cNvSpPr txBox="1"/>
          <p:nvPr/>
        </p:nvSpPr>
        <p:spPr>
          <a:xfrm>
            <a:off x="8402117" y="361188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99,9 %</a:t>
            </a:r>
            <a:endParaRPr lang="en-US" sz="3400" dirty="0"/>
          </a:p>
        </p:txBody>
      </p:sp>
      <p:sp>
        <p:nvSpPr>
          <p:cNvPr id="29" name="stat-label-113"/>
          <p:cNvSpPr txBox="1"/>
          <p:nvPr/>
        </p:nvSpPr>
        <p:spPr>
          <a:xfrm>
            <a:off x="8402117" y="4233672"/>
            <a:ext cx="29666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точек принято без скопления на границе; допустимость доказана (утверждение 7)</a:t>
            </a:r>
            <a:endParaRPr lang="en-US" sz="1400" dirty="0"/>
          </a:p>
        </p:txBody>
      </p:sp>
      <p:sp>
        <p:nvSpPr>
          <p:cNvPr id="30" name="text-114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Равномерность плана (CD-расхождение, меньше — лучше): Соболь 0,021, латинский гиперкуб 0,040, случайная выборка 0,068. План Соболя расширяем: набор FULL содержит набор FAST.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Генератор воспроизводит заданную величину дрейфа в пределах выборочной погрешности</a:t>
            </a:r>
            <a:endParaRPr lang="en-US" sz="2800" dirty="0"/>
          </a:p>
        </p:txBody>
      </p:sp>
      <p:pic>
        <p:nvPicPr>
          <p:cNvPr id="3" name="figure-115" descr="Распределение нормированных отклонений фактической величины от заданной и плотность N(0, 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400800" cy="3419536"/>
          </a:xfrm>
          <a:prstGeom prst="rect">
            <a:avLst/>
          </a:prstGeom>
        </p:spPr>
      </p:pic>
      <p:sp>
        <p:nvSpPr>
          <p:cNvPr id="4" name="text-116"/>
          <p:cNvSpPr txBox="1"/>
          <p:nvPr/>
        </p:nvSpPr>
        <p:spPr>
          <a:xfrm>
            <a:off x="548640" y="52026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Нормированные отклонения z = (m̂ − m)/SE на 900 случайных сценариях; кривая — N(0, 1)</a:t>
            </a:r>
            <a:endParaRPr lang="en-US" sz="1300" dirty="0"/>
          </a:p>
        </p:txBody>
      </p:sp>
      <p:sp>
        <p:nvSpPr>
          <p:cNvPr id="5" name="stat-value-117"/>
          <p:cNvSpPr txBox="1"/>
          <p:nvPr/>
        </p:nvSpPr>
        <p:spPr>
          <a:xfrm>
            <a:off x="7406640" y="1600200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0,95 – 0,97</a:t>
            </a:r>
            <a:endParaRPr lang="en-US" sz="3400" dirty="0"/>
          </a:p>
        </p:txBody>
      </p:sp>
      <p:sp>
        <p:nvSpPr>
          <p:cNvPr id="6" name="stat-label-118"/>
          <p:cNvSpPr txBox="1"/>
          <p:nvPr/>
        </p:nvSpPr>
        <p:spPr>
          <a:xfrm>
            <a:off x="7406640" y="2221992"/>
            <a:ext cx="42364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стандартное отклонение z для трёх видов дрейфа (ожидается 1); смещения не обнаружено</a:t>
            </a:r>
            <a:endParaRPr lang="en-US" sz="1400" dirty="0"/>
          </a:p>
        </p:txBody>
      </p:sp>
      <p:sp>
        <p:nvSpPr>
          <p:cNvPr id="7" name="stat-value-119"/>
          <p:cNvSpPr txBox="1"/>
          <p:nvPr/>
        </p:nvSpPr>
        <p:spPr>
          <a:xfrm>
            <a:off x="7406640" y="3108960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0,040</a:t>
            </a:r>
            <a:endParaRPr lang="en-US" sz="3400" dirty="0"/>
          </a:p>
        </p:txBody>
      </p:sp>
      <p:sp>
        <p:nvSpPr>
          <p:cNvPr id="8" name="stat-label-120"/>
          <p:cNvSpPr txBox="1"/>
          <p:nvPr/>
        </p:nvSpPr>
        <p:spPr>
          <a:xfrm>
            <a:off x="7406640" y="37307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отклонение эмпирической кривой перехода от теоретической для четырёх форм</a:t>
            </a:r>
            <a:endParaRPr lang="en-US" sz="1400" dirty="0"/>
          </a:p>
        </p:txBody>
      </p:sp>
      <p:sp>
        <p:nvSpPr>
          <p:cNvPr id="9" name="stat-value-121"/>
          <p:cNvSpPr txBox="1"/>
          <p:nvPr/>
        </p:nvSpPr>
        <p:spPr>
          <a:xfrm>
            <a:off x="7406640" y="4480560"/>
            <a:ext cx="4236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0,0004</a:t>
            </a:r>
            <a:endParaRPr lang="en-US" sz="3400" dirty="0"/>
          </a:p>
        </p:txBody>
      </p:sp>
      <p:sp>
        <p:nvSpPr>
          <p:cNvPr id="10" name="stat-label-122"/>
          <p:cNvSpPr txBox="1"/>
          <p:nvPr/>
        </p:nvSpPr>
        <p:spPr>
          <a:xfrm>
            <a:off x="7406640" y="51023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ошибка величины при внедрении дрейфа в реальные данные Bananas и Phishing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scendrift: от описания сценария до статистического сравнения детекторов</a:t>
            </a:r>
            <a:endParaRPr lang="en-US" sz="2800" dirty="0"/>
          </a:p>
        </p:txBody>
      </p:sp>
      <p:pic>
        <p:nvPicPr>
          <p:cNvPr id="3" name="figure-123" descr="Конвейер: пространство параметров, план, сборка, проверка, набор, генерация, раннер, метрики, анализ, отчё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8138160" cy="4111148"/>
          </a:xfrm>
          <a:prstGeom prst="rect">
            <a:avLst/>
          </a:prstGeom>
        </p:spPr>
      </p:pic>
      <p:sp>
        <p:nvSpPr>
          <p:cNvPr id="4" name="stat-value-124"/>
          <p:cNvSpPr txBox="1"/>
          <p:nvPr/>
        </p:nvSpPr>
        <p:spPr>
          <a:xfrm>
            <a:off x="9098280" y="1508760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000" dirty="0"/>
          </a:p>
        </p:txBody>
      </p:sp>
      <p:sp>
        <p:nvSpPr>
          <p:cNvPr id="5" name="stat-label-125"/>
          <p:cNvSpPr txBox="1"/>
          <p:nvPr/>
        </p:nvSpPr>
        <p:spPr>
          <a:xfrm>
            <a:off x="9098280" y="2130552"/>
            <a:ext cx="25447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модули пакета Python</a:t>
            </a:r>
            <a:endParaRPr lang="en-US" sz="1300" dirty="0"/>
          </a:p>
        </p:txBody>
      </p:sp>
      <p:sp>
        <p:nvSpPr>
          <p:cNvPr id="6" name="stat-value-126"/>
          <p:cNvSpPr txBox="1"/>
          <p:nvPr/>
        </p:nvSpPr>
        <p:spPr>
          <a:xfrm>
            <a:off x="9098280" y="2606040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7631</a:t>
            </a:r>
            <a:endParaRPr lang="en-US" sz="3000" dirty="0"/>
          </a:p>
        </p:txBody>
      </p:sp>
      <p:sp>
        <p:nvSpPr>
          <p:cNvPr id="7" name="stat-label-127"/>
          <p:cNvSpPr txBox="1"/>
          <p:nvPr/>
        </p:nvSpPr>
        <p:spPr>
          <a:xfrm>
            <a:off x="9098280" y="3227832"/>
            <a:ext cx="25447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строки исходного кода</a:t>
            </a:r>
            <a:endParaRPr lang="en-US" sz="1300" dirty="0"/>
          </a:p>
        </p:txBody>
      </p:sp>
      <p:sp>
        <p:nvSpPr>
          <p:cNvPr id="8" name="stat-value-128"/>
          <p:cNvSpPr txBox="1"/>
          <p:nvPr/>
        </p:nvSpPr>
        <p:spPr>
          <a:xfrm>
            <a:off x="9098280" y="3703320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</a:t>
            </a:r>
            <a:endParaRPr lang="en-US" sz="3000" dirty="0"/>
          </a:p>
        </p:txBody>
      </p:sp>
      <p:sp>
        <p:nvSpPr>
          <p:cNvPr id="9" name="stat-label-129"/>
          <p:cNvSpPr txBox="1"/>
          <p:nvPr/>
        </p:nvSpPr>
        <p:spPr>
          <a:xfrm>
            <a:off x="9098280" y="4325112"/>
            <a:ext cx="25447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модульные тесты pytest</a:t>
            </a:r>
            <a:endParaRPr lang="en-US" sz="1300" dirty="0"/>
          </a:p>
        </p:txBody>
      </p:sp>
      <p:sp>
        <p:nvSpPr>
          <p:cNvPr id="10" name="stat-value-130"/>
          <p:cNvSpPr txBox="1"/>
          <p:nvPr/>
        </p:nvSpPr>
        <p:spPr>
          <a:xfrm>
            <a:off x="9098280" y="4800600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+ 3</a:t>
            </a:r>
            <a:endParaRPr lang="en-US" sz="3000" dirty="0"/>
          </a:p>
        </p:txBody>
      </p:sp>
      <p:sp>
        <p:nvSpPr>
          <p:cNvPr id="11" name="stat-label-131"/>
          <p:cNvSpPr txBox="1"/>
          <p:nvPr/>
        </p:nvSpPr>
        <p:spPr>
          <a:xfrm>
            <a:off x="9098280" y="5422392"/>
            <a:ext cx="25447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детекторы river и базовые линии NoDrift, Periodic, Oracle</a:t>
            </a:r>
            <a:endParaRPr lang="en-US" sz="1300" dirty="0"/>
          </a:p>
        </p:txBody>
      </p:sp>
      <p:sp>
        <p:nvSpPr>
          <p:cNvPr id="12" name="text-132"/>
          <p:cNvSpPr txBox="1"/>
          <p:nvPr/>
        </p:nvSpPr>
        <p:spPr>
          <a:xfrm>
            <a:off x="548640" y="58027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Протокол prequential: модель предсказывает, затем обучается; детектор получает поток ошибок; срабатывание сопоставляется с истинной разметкой через окно допуска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равномерно покрывающем наборе средний F1 детекторов — от 0,10 до 0,36</a:t>
            </a:r>
            <a:endParaRPr lang="en-US" sz="2800" dirty="0"/>
          </a:p>
        </p:txBody>
      </p:sp>
      <p:graphicFrame>
        <p:nvGraphicFramePr>
          <p:cNvPr id="3" name="chart-133" descr=""/>
          <p:cNvGraphicFramePr/>
          <p:nvPr/>
        </p:nvGraphicFramePr>
        <p:xfrm>
          <a:off x="548640" y="1508760"/>
          <a:ext cx="722376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134"/>
          <p:cNvSpPr/>
          <p:nvPr/>
        </p:nvSpPr>
        <p:spPr>
          <a:xfrm>
            <a:off x="8183880" y="1600200"/>
            <a:ext cx="3459175" cy="2331720"/>
          </a:xfrm>
          <a:prstGeom prst="roundRect">
            <a:avLst>
              <a:gd name="adj" fmla="val 3137"/>
            </a:avLst>
          </a:prstGeom>
          <a:solidFill>
            <a:srgbClr val="FDEDE6"/>
          </a:solidFill>
          <a:ln/>
        </p:spPr>
      </p:sp>
      <p:sp>
        <p:nvSpPr>
          <p:cNvPr id="5" name="stat-value-135"/>
          <p:cNvSpPr txBox="1"/>
          <p:nvPr/>
        </p:nvSpPr>
        <p:spPr>
          <a:xfrm>
            <a:off x="8458200" y="1737360"/>
            <a:ext cx="2910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0,38</a:t>
            </a:r>
            <a:endParaRPr lang="en-US" sz="3400" dirty="0"/>
          </a:p>
        </p:txBody>
      </p:sp>
      <p:sp>
        <p:nvSpPr>
          <p:cNvPr id="6" name="stat-label-136"/>
          <p:cNvSpPr txBox="1"/>
          <p:nvPr/>
        </p:nvSpPr>
        <p:spPr>
          <a:xfrm>
            <a:off x="8458200" y="2359152"/>
            <a:ext cx="291053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F1 периодического сброса модели каждые 2000 объектов — без анализа данных он выше любого детектора</a:t>
            </a:r>
            <a:endParaRPr lang="en-US" sz="1400" dirty="0"/>
          </a:p>
        </p:txBody>
      </p:sp>
      <p:sp>
        <p:nvSpPr>
          <p:cNvPr id="7" name="stat-value-137"/>
          <p:cNvSpPr txBox="1"/>
          <p:nvPr/>
        </p:nvSpPr>
        <p:spPr>
          <a:xfrm>
            <a:off x="8183880" y="420624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2304</a:t>
            </a:r>
            <a:endParaRPr lang="en-US" sz="3000" dirty="0"/>
          </a:p>
        </p:txBody>
      </p:sp>
      <p:sp>
        <p:nvSpPr>
          <p:cNvPr id="8" name="stat-label-138"/>
          <p:cNvSpPr txBox="1"/>
          <p:nvPr/>
        </p:nvSpPr>
        <p:spPr>
          <a:xfrm>
            <a:off x="8183880" y="4828032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прогонов: 64 сценариев набора e2_fast, повторов — 3, методов — 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и польза для модели расходятся: F1 нельзя использовать как единственную метрику</a:t>
            </a:r>
            <a:endParaRPr lang="en-US" sz="2800" dirty="0"/>
          </a:p>
        </p:txBody>
      </p:sp>
      <p:sp>
        <p:nvSpPr>
          <p:cNvPr id="3" name="stat-value-139"/>
          <p:cNvSpPr txBox="1"/>
          <p:nvPr/>
        </p:nvSpPr>
        <p:spPr>
          <a:xfrm>
            <a:off x="548640" y="15544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из 9</a:t>
            </a:r>
            <a:endParaRPr lang="en-US" sz="3400" dirty="0"/>
          </a:p>
        </p:txBody>
      </p:sp>
      <p:sp>
        <p:nvSpPr>
          <p:cNvPr id="4" name="stat-label-140"/>
          <p:cNvSpPr txBox="1"/>
          <p:nvPr/>
        </p:nvSpPr>
        <p:spPr>
          <a:xfrm>
            <a:off x="548640" y="217627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детекторов значимо хуже периодического сброса по F1 (Уилкоксон, поправка Холма)</a:t>
            </a:r>
            <a:endParaRPr lang="en-US" sz="1400" dirty="0"/>
          </a:p>
        </p:txBody>
      </p:sp>
      <p:sp>
        <p:nvSpPr>
          <p:cNvPr id="5" name="stat-value-141"/>
          <p:cNvSpPr txBox="1"/>
          <p:nvPr/>
        </p:nvSpPr>
        <p:spPr>
          <a:xfrm>
            <a:off x="54864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из 9</a:t>
            </a:r>
            <a:endParaRPr lang="en-US" sz="3400" dirty="0"/>
          </a:p>
        </p:txBody>
      </p:sp>
      <p:sp>
        <p:nvSpPr>
          <p:cNvPr id="6" name="stat-label-142"/>
          <p:cNvSpPr txBox="1"/>
          <p:nvPr/>
        </p:nvSpPr>
        <p:spPr>
          <a:xfrm>
            <a:off x="548640" y="3730752"/>
            <a:ext cx="3840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детекторов значимо лучше периодического сброса по приросту accuracy</a:t>
            </a:r>
            <a:endParaRPr lang="en-US" sz="1400" dirty="0"/>
          </a:p>
        </p:txBody>
      </p:sp>
      <p:sp>
        <p:nvSpPr>
          <p:cNvPr id="7" name="stat-value-143"/>
          <p:cNvSpPr txBox="1"/>
          <p:nvPr/>
        </p:nvSpPr>
        <p:spPr>
          <a:xfrm>
            <a:off x="548640" y="45262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−0,06</a:t>
            </a:r>
            <a:endParaRPr lang="en-US" sz="3400" dirty="0"/>
          </a:p>
        </p:txBody>
      </p:sp>
      <p:sp>
        <p:nvSpPr>
          <p:cNvPr id="8" name="stat-label-144"/>
          <p:cNvSpPr txBox="1"/>
          <p:nvPr/>
        </p:nvSpPr>
        <p:spPr>
          <a:xfrm>
            <a:off x="548640" y="514807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согласие ранжирований детекторов по F1 и по приросту accuracy — связи нет</a:t>
            </a:r>
            <a:endParaRPr lang="en-US" sz="1400" dirty="0"/>
          </a:p>
        </p:txBody>
      </p:sp>
      <p:graphicFrame>
        <p:nvGraphicFramePr>
          <p:cNvPr id="9" name="chart-145" descr=""/>
          <p:cNvGraphicFramePr/>
          <p:nvPr/>
        </p:nvGraphicFramePr>
        <p:xfrm>
          <a:off x="4800600" y="1508760"/>
          <a:ext cx="6842455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Сложность определяет величина дрейфа, а виртуальный дрейф по потоку ошибок не виден</a:t>
            </a:r>
            <a:endParaRPr lang="en-US" sz="2800" dirty="0"/>
          </a:p>
        </p:txBody>
      </p:sp>
      <p:sp>
        <p:nvSpPr>
          <p:cNvPr id="3" name="stat-value-146"/>
          <p:cNvSpPr txBox="1"/>
          <p:nvPr/>
        </p:nvSpPr>
        <p:spPr>
          <a:xfrm>
            <a:off x="548640" y="15544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 – 0,95</a:t>
            </a:r>
            <a:endParaRPr lang="en-US" sz="3400" dirty="0"/>
          </a:p>
        </p:txBody>
      </p:sp>
      <p:sp>
        <p:nvSpPr>
          <p:cNvPr id="4" name="stat-label-147"/>
          <p:cNvSpPr txBox="1"/>
          <p:nvPr/>
        </p:nvSpPr>
        <p:spPr>
          <a:xfrm>
            <a:off x="548640" y="21762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корреляция F1 с величиной дрейфа на сетке «величина × ширина»</a:t>
            </a:r>
            <a:endParaRPr lang="en-US" sz="1400" dirty="0"/>
          </a:p>
        </p:txBody>
      </p:sp>
      <p:sp>
        <p:nvSpPr>
          <p:cNvPr id="5" name="stat-value-148"/>
          <p:cNvSpPr txBox="1"/>
          <p:nvPr/>
        </p:nvSpPr>
        <p:spPr>
          <a:xfrm>
            <a:off x="548640" y="3017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0,34</a:t>
            </a:r>
            <a:endParaRPr lang="en-US" sz="3400" dirty="0"/>
          </a:p>
        </p:txBody>
      </p:sp>
      <p:sp>
        <p:nvSpPr>
          <p:cNvPr id="6" name="stat-label-149"/>
          <p:cNvSpPr txBox="1"/>
          <p:nvPr/>
        </p:nvSpPr>
        <p:spPr>
          <a:xfrm>
            <a:off x="548640" y="3639312"/>
            <a:ext cx="3840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модуль корреляции F1 с шириной перехода — связь слабая</a:t>
            </a:r>
            <a:endParaRPr lang="en-US" sz="1400" dirty="0"/>
          </a:p>
        </p:txBody>
      </p:sp>
      <p:sp>
        <p:nvSpPr>
          <p:cNvPr id="7" name="stat-value-150"/>
          <p:cNvSpPr txBox="1"/>
          <p:nvPr/>
        </p:nvSpPr>
        <p:spPr>
          <a:xfrm>
            <a:off x="548640" y="4434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stat-label-151"/>
          <p:cNvSpPr txBox="1"/>
          <p:nvPr/>
        </p:nvSpPr>
        <p:spPr>
          <a:xfrm>
            <a:off x="548640" y="5056632"/>
            <a:ext cx="3840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значимых связей F1 с долей затронутых признаков при фиксированной величине — шкала её уже учитывает</a:t>
            </a:r>
            <a:endParaRPr lang="en-US" sz="1400" dirty="0"/>
          </a:p>
        </p:txBody>
      </p:sp>
      <p:graphicFrame>
        <p:nvGraphicFramePr>
          <p:cNvPr id="9" name="chart-152" descr=""/>
          <p:cNvGraphicFramePr/>
          <p:nvPr/>
        </p:nvGraphicFramePr>
        <p:xfrm>
          <a:off x="4800600" y="1508760"/>
          <a:ext cx="6842455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Ручной набор классических потоков завышает качество и меняет порядок детекторов</a:t>
            </a:r>
            <a:endParaRPr lang="en-US" sz="2800" dirty="0"/>
          </a:p>
        </p:txBody>
      </p:sp>
      <p:graphicFrame>
        <p:nvGraphicFramePr>
          <p:cNvPr id="3" name="chart-153" descr=""/>
          <p:cNvGraphicFramePr/>
          <p:nvPr/>
        </p:nvGraphicFramePr>
        <p:xfrm>
          <a:off x="548640" y="1508760"/>
          <a:ext cx="722376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value-154"/>
          <p:cNvSpPr txBox="1"/>
          <p:nvPr/>
        </p:nvSpPr>
        <p:spPr>
          <a:xfrm>
            <a:off x="8183880" y="155448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0,39</a:t>
            </a:r>
            <a:endParaRPr lang="en-US" sz="3400" dirty="0"/>
          </a:p>
        </p:txBody>
      </p:sp>
      <p:sp>
        <p:nvSpPr>
          <p:cNvPr id="5" name="stat-label-155"/>
          <p:cNvSpPr txBox="1"/>
          <p:nvPr/>
        </p:nvSpPr>
        <p:spPr>
          <a:xfrm>
            <a:off x="8183880" y="2176272"/>
            <a:ext cx="3459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 = 0,18: согласие ранжирований ручного и автоматического наборов не подтверждено</a:t>
            </a:r>
            <a:endParaRPr lang="en-US" sz="1400" dirty="0"/>
          </a:p>
        </p:txBody>
      </p:sp>
      <p:sp>
        <p:nvSpPr>
          <p:cNvPr id="6" name="stat-value-156"/>
          <p:cNvSpPr txBox="1"/>
          <p:nvPr/>
        </p:nvSpPr>
        <p:spPr>
          <a:xfrm>
            <a:off x="8183880" y="301752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и 62</a:t>
            </a:r>
            <a:endParaRPr lang="en-US" sz="3400" dirty="0"/>
          </a:p>
        </p:txBody>
      </p:sp>
      <p:sp>
        <p:nvSpPr>
          <p:cNvPr id="7" name="stat-label-157"/>
          <p:cNvSpPr txBox="1"/>
          <p:nvPr/>
        </p:nvSpPr>
        <p:spPr>
          <a:xfrm>
            <a:off x="8183880" y="3639312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классов таксономии покрывают ручной и автоматический наборы</a:t>
            </a:r>
            <a:endParaRPr lang="en-US" sz="1400" dirty="0"/>
          </a:p>
        </p:txBody>
      </p:sp>
      <p:sp>
        <p:nvSpPr>
          <p:cNvPr id="8" name="stat-value-158"/>
          <p:cNvSpPr txBox="1"/>
          <p:nvPr/>
        </p:nvSpPr>
        <p:spPr>
          <a:xfrm>
            <a:off x="8183880" y="4389120"/>
            <a:ext cx="3459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+0,20</a:t>
            </a:r>
            <a:endParaRPr lang="en-US" sz="3400" dirty="0"/>
          </a:p>
        </p:txBody>
      </p:sp>
      <p:sp>
        <p:nvSpPr>
          <p:cNvPr id="9" name="stat-label-159"/>
          <p:cNvSpPr txBox="1"/>
          <p:nvPr/>
        </p:nvSpPr>
        <p:spPr>
          <a:xfrm>
            <a:off x="8183880" y="5010912"/>
            <a:ext cx="34591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recall на виртуальном дрейфе на реальных данных по сравнению с синтетикой (Э7): перенос выводов частичный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Научная новизна и практическая значимость</a:t>
            </a:r>
            <a:endParaRPr lang="en-US" sz="2800" dirty="0"/>
          </a:p>
        </p:txBody>
      </p:sp>
      <p:sp>
        <p:nvSpPr>
          <p:cNvPr id="3" name="card-160"/>
          <p:cNvSpPr/>
          <p:nvPr/>
        </p:nvSpPr>
        <p:spPr>
          <a:xfrm>
            <a:off x="548640" y="1508760"/>
            <a:ext cx="694944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4" name="marker-161"/>
          <p:cNvSpPr/>
          <p:nvPr/>
        </p:nvSpPr>
        <p:spPr>
          <a:xfrm>
            <a:off x="777240" y="1773936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marker-text-162"/>
          <p:cNvSpPr txBox="1"/>
          <p:nvPr/>
        </p:nvSpPr>
        <p:spPr>
          <a:xfrm>
            <a:off x="77724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163"/>
          <p:cNvSpPr txBox="1"/>
          <p:nvPr/>
        </p:nvSpPr>
        <p:spPr>
          <a:xfrm>
            <a:off x="1417320" y="1600200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Формальная модель сценария дрейфа с проверяемыми ограничениями допустимости и разделением структурной случайности и случайности реализации</a:t>
            </a:r>
            <a:endParaRPr lang="en-US" sz="1500" dirty="0"/>
          </a:p>
        </p:txBody>
      </p:sp>
      <p:sp>
        <p:nvSpPr>
          <p:cNvPr id="7" name="card-164"/>
          <p:cNvSpPr/>
          <p:nvPr/>
        </p:nvSpPr>
        <p:spPr>
          <a:xfrm>
            <a:off x="548640" y="2624328"/>
            <a:ext cx="694944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8" name="marker-165"/>
          <p:cNvSpPr/>
          <p:nvPr/>
        </p:nvSpPr>
        <p:spPr>
          <a:xfrm>
            <a:off x="777240" y="288950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marker-text-166"/>
          <p:cNvSpPr txBox="1"/>
          <p:nvPr/>
        </p:nvSpPr>
        <p:spPr>
          <a:xfrm>
            <a:off x="77724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-167"/>
          <p:cNvSpPr txBox="1"/>
          <p:nvPr/>
        </p:nvSpPr>
        <p:spPr>
          <a:xfrm>
            <a:off x="1417320" y="2715768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Единая шкала величины дрейфа — расстояние полной вариации — с аналитической калибровкой для реального, виртуального и априорного дрейфа</a:t>
            </a:r>
            <a:endParaRPr lang="en-US" sz="1500" dirty="0"/>
          </a:p>
        </p:txBody>
      </p:sp>
      <p:sp>
        <p:nvSpPr>
          <p:cNvPr id="11" name="card-168"/>
          <p:cNvSpPr/>
          <p:nvPr/>
        </p:nvSpPr>
        <p:spPr>
          <a:xfrm>
            <a:off x="548640" y="3739896"/>
            <a:ext cx="694944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2" name="marker-169"/>
          <p:cNvSpPr/>
          <p:nvPr/>
        </p:nvSpPr>
        <p:spPr>
          <a:xfrm>
            <a:off x="777240" y="400507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marker-text-170"/>
          <p:cNvSpPr txBox="1"/>
          <p:nvPr/>
        </p:nvSpPr>
        <p:spPr>
          <a:xfrm>
            <a:off x="7772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-171"/>
          <p:cNvSpPr txBox="1"/>
          <p:nvPr/>
        </p:nvSpPr>
        <p:spPr>
          <a:xfrm>
            <a:off x="1417320" y="3831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Метод формирования наборов сценариев по планам вычислительного эксперимента с условными доменами</a:t>
            </a:r>
            <a:endParaRPr lang="en-US" sz="1500" dirty="0"/>
          </a:p>
        </p:txBody>
      </p:sp>
      <p:sp>
        <p:nvSpPr>
          <p:cNvPr id="15" name="card-172"/>
          <p:cNvSpPr/>
          <p:nvPr/>
        </p:nvSpPr>
        <p:spPr>
          <a:xfrm>
            <a:off x="548640" y="4855464"/>
            <a:ext cx="694944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6" name="marker-173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marker-text-174"/>
          <p:cNvSpPr txBox="1"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-175"/>
          <p:cNvSpPr txBox="1"/>
          <p:nvPr/>
        </p:nvSpPr>
        <p:spPr>
          <a:xfrm>
            <a:off x="1417320" y="4946904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Методика описания областей отказа детекторов с поправкой на случайный уровень обнаружения</a:t>
            </a:r>
            <a:endParaRPr lang="en-US" sz="1500" dirty="0"/>
          </a:p>
        </p:txBody>
      </p:sp>
      <p:sp>
        <p:nvSpPr>
          <p:cNvPr id="19" name="card-176"/>
          <p:cNvSpPr/>
          <p:nvPr/>
        </p:nvSpPr>
        <p:spPr>
          <a:xfrm>
            <a:off x="7909560" y="1508760"/>
            <a:ext cx="3733495" cy="4334256"/>
          </a:xfrm>
          <a:prstGeom prst="roundRect">
            <a:avLst>
              <a:gd name="adj" fmla="val 1959"/>
            </a:avLst>
          </a:prstGeom>
          <a:solidFill>
            <a:schemeClr val="tx2"/>
          </a:solidFill>
          <a:ln/>
        </p:spPr>
      </p:sp>
      <p:sp>
        <p:nvSpPr>
          <p:cNvPr id="20" name="text-177"/>
          <p:cNvSpPr txBox="1"/>
          <p:nvPr/>
        </p:nvSpPr>
        <p:spPr>
          <a:xfrm>
            <a:off x="8229600" y="173736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Практическая значимость</a:t>
            </a:r>
            <a:endParaRPr lang="en-US" sz="1800" dirty="0"/>
          </a:p>
        </p:txBody>
      </p:sp>
      <p:sp>
        <p:nvSpPr>
          <p:cNvPr id="21" name="bullets-178"/>
          <p:cNvSpPr txBox="1"/>
          <p:nvPr/>
        </p:nvSpPr>
        <p:spPr>
          <a:xfrm>
            <a:off x="8229600" y="2331720"/>
            <a:ext cx="3093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выбор детектора под величину и скорость дрейфа, дисбаланс и шум конкретной задачи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проверка новых детекторов на воспроизводимых наборах сценариев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протокол оценки без «иллюзии прогресса»: базовые линии и случайный уровень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marker-179"/>
          <p:cNvSpPr/>
          <p:nvPr/>
        </p:nvSpPr>
        <p:spPr>
          <a:xfrm>
            <a:off x="548640" y="156362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marker-text-180"/>
          <p:cNvSpPr txBox="1"/>
          <p:nvPr/>
        </p:nvSpPr>
        <p:spPr>
          <a:xfrm>
            <a:off x="548640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181"/>
          <p:cNvSpPr txBox="1"/>
          <p:nvPr/>
        </p:nvSpPr>
        <p:spPr>
          <a:xfrm>
            <a:off x="1188720" y="15087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Сценарий дрейфа формализован, его допустимость проверяется до генерации данных</a:t>
            </a:r>
            <a:endParaRPr lang="en-US" sz="1700" dirty="0"/>
          </a:p>
        </p:txBody>
      </p:sp>
      <p:sp>
        <p:nvSpPr>
          <p:cNvPr id="6" name="marker-182"/>
          <p:cNvSpPr/>
          <p:nvPr/>
        </p:nvSpPr>
        <p:spPr>
          <a:xfrm>
            <a:off x="548640" y="229514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marker-text-183"/>
          <p:cNvSpPr txBox="1"/>
          <p:nvPr/>
        </p:nvSpPr>
        <p:spPr>
          <a:xfrm>
            <a:off x="548640" y="2295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-184"/>
          <p:cNvSpPr txBox="1"/>
          <p:nvPr/>
        </p:nvSpPr>
        <p:spPr>
          <a:xfrm>
            <a:off x="1188720" y="2240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Единая шкала величины реализована и подтверждена: генератор точен в пределах выборочной погрешности</a:t>
            </a:r>
            <a:endParaRPr lang="en-US" sz="1700" dirty="0"/>
          </a:p>
        </p:txBody>
      </p:sp>
      <p:sp>
        <p:nvSpPr>
          <p:cNvPr id="9" name="marker-185"/>
          <p:cNvSpPr/>
          <p:nvPr/>
        </p:nvSpPr>
        <p:spPr>
          <a:xfrm>
            <a:off x="548640" y="302666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marker-text-186"/>
          <p:cNvSpPr txBox="1"/>
          <p:nvPr/>
        </p:nvSpPr>
        <p:spPr>
          <a:xfrm>
            <a:off x="54864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-187"/>
          <p:cNvSpPr txBox="1"/>
          <p:nvPr/>
        </p:nvSpPr>
        <p:spPr>
          <a:xfrm>
            <a:off x="1188720" y="29718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Наборы формируются автоматически; условные домены сохраняют бюджет и баланс плана</a:t>
            </a:r>
            <a:endParaRPr lang="en-US" sz="1700" dirty="0"/>
          </a:p>
        </p:txBody>
      </p:sp>
      <p:sp>
        <p:nvSpPr>
          <p:cNvPr id="12" name="marker-188"/>
          <p:cNvSpPr/>
          <p:nvPr/>
        </p:nvSpPr>
        <p:spPr>
          <a:xfrm>
            <a:off x="548640" y="375818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marker-text-189"/>
          <p:cNvSpPr txBox="1"/>
          <p:nvPr/>
        </p:nvSpPr>
        <p:spPr>
          <a:xfrm>
            <a:off x="54864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-190"/>
          <p:cNvSpPr txBox="1"/>
          <p:nvPr/>
        </p:nvSpPr>
        <p:spPr>
          <a:xfrm>
            <a:off x="1188720" y="3703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Средний F1 детекторов river на равномерном наборе — от 0,10 до 0,36; F1 нужно дополнять базовыми линиями</a:t>
            </a:r>
            <a:endParaRPr lang="en-US" sz="1700" dirty="0"/>
          </a:p>
        </p:txBody>
      </p:sp>
      <p:sp>
        <p:nvSpPr>
          <p:cNvPr id="15" name="marker-191"/>
          <p:cNvSpPr/>
          <p:nvPr/>
        </p:nvSpPr>
        <p:spPr>
          <a:xfrm>
            <a:off x="548640" y="448970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marker-text-192"/>
          <p:cNvSpPr txBox="1"/>
          <p:nvPr/>
        </p:nvSpPr>
        <p:spPr>
          <a:xfrm>
            <a:off x="54864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-193"/>
          <p:cNvSpPr txBox="1"/>
          <p:nvPr/>
        </p:nvSpPr>
        <p:spPr>
          <a:xfrm>
            <a:off x="1188720" y="443484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Главный фактор сложности — величина дрейфа; ручной набор завышает качество и даёт другой порядок</a:t>
            </a:r>
            <a:endParaRPr lang="en-US" sz="1700" dirty="0"/>
          </a:p>
        </p:txBody>
      </p:sp>
      <p:sp>
        <p:nvSpPr>
          <p:cNvPr id="18" name="text-194"/>
          <p:cNvSpPr txBox="1"/>
          <p:nvPr/>
        </p:nvSpPr>
        <p:spPr>
          <a:xfrm>
            <a:off x="548640" y="51663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Ограничения: одно калиброванное синтетическое семейство, одна базовая модель, параметры детекторов по умолчанию; числа получены в режиме FAST.</a:t>
            </a:r>
            <a:endParaRPr lang="en-US" sz="1400" dirty="0"/>
          </a:p>
        </p:txBody>
      </p:sp>
      <p:sp>
        <p:nvSpPr>
          <p:cNvPr id="19" name="text-195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Спасибо за внимание! Готовы ответить на вопросы.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endrift">
  <a:themeElements>
    <a:clrScheme name="scendrift">
      <a:dk1>
        <a:srgbClr val="1F2328"/>
      </a:dk1>
      <a:lt1>
        <a:srgbClr val="FFFFFF"/>
      </a:lt1>
      <a:dk2>
        <a:srgbClr val="14213D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5B6573"/>
      </a:accent4>
      <a:accent5>
        <a:srgbClr val="2B5C8A"/>
      </a:accent5>
      <a:accent6>
        <a:srgbClr val="2E7D4F"/>
      </a:accent6>
      <a:hlink>
        <a:srgbClr val="2A78D6"/>
      </a:hlink>
      <a:folHlink>
        <a:srgbClr val="4A3AA7"/>
      </a:folHlink>
    </a:clrScheme>
    <a:fontScheme name="scendrif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Финансовый университет при Правительстве Российской Федерации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фреймворка генерации бенчмарков систем выявления концептуального дрейфа</dc:title>
  <dc:subject>PptxGenJS Presentation</dc:subject>
  <dc:creator>Будаев К. В., Гарифзянов Т. Р.</dc:creator>
  <cp:lastModifiedBy>Будаев К. В., Гарифзянов Т. Р.</cp:lastModifiedBy>
  <cp:revision>1</cp:revision>
  <dcterms:created xsi:type="dcterms:W3CDTF">2026-10-08T01:03:23Z</dcterms:created>
  <dcterms:modified xsi:type="dcterms:W3CDTF">2026-10-08T01:03:23Z</dcterms:modified>
</cp:coreProperties>
</file>